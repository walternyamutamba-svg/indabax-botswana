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botswana.png"/><Relationship Id="rId2" Type="http://schemas.openxmlformats.org/officeDocument/2006/relationships/image" Target="../media/image-1-zim.png"/><Relationship Id="rId3" Type="http://schemas.openxmlformats.org/officeDocument/2006/relationships/image" Target="../media/image-1-dsz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40080" y="1478280"/>
            <a:ext cx="7863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kern="0" dirty="0">
                <a:solidFill>
                  <a:srgbClr val="FFFFFF"/>
                </a:solidFill>
                <a:latin typeface="Century Schoolbook" pitchFamily="34" charset="0"/>
                <a:cs typeface="Century Schoolbook" pitchFamily="34" charset="0"/>
              </a:rPr>
              <a:t>Exploratory Data Analysis</a:t>
            </a:r>
            <a:endParaRPr lang="en-US" dirty="0"/>
          </a:p>
        </p:txBody>
      </p:sp>
      <p:sp>
        <p:nvSpPr>
          <p:cNvPr id="3" name="Title 2"/>
          <p:cNvSpPr/>
          <p:nvPr/>
        </p:nvSpPr>
        <p:spPr>
          <a:xfrm>
            <a:off x="640080" y="2346960"/>
            <a:ext cx="7863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kern="0" dirty="0">
                <a:solidFill>
                  <a:srgbClr val="F9A03F"/>
                </a:solidFill>
                <a:latin typeface="Century Schoolbook" pitchFamily="34" charset="0"/>
                <a:cs typeface="Century Schoolbook" pitchFamily="34" charset="0"/>
              </a:rPr>
              <a:t>in Python</a:t>
            </a:r>
            <a:endParaRPr lang="en-US" dirty="0"/>
          </a:p>
        </p:txBody>
      </p:sp>
      <p:sp>
        <p:nvSpPr>
          <p:cNvPr id="4" name="Subtitle"/>
          <p:cNvSpPr/>
          <p:nvPr/>
        </p:nvSpPr>
        <p:spPr>
          <a:xfrm>
            <a:off x="658368" y="3200400"/>
            <a:ext cx="6949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kern="0" dirty="0">
                <a:solidFill>
                  <a:srgbClr val="EAF1FB"/>
                </a:solidFill>
                <a:latin typeface="Calibri" pitchFamily="34" charset="0"/>
                <a:cs typeface="Calibri" pitchFamily="34" charset="0"/>
              </a:rPr>
              <a:t>A complete, hands-on walkthrough of all four EDA chapters, applied to real regional unemployment data.</a:t>
            </a:r>
            <a:endParaRPr lang="en-US" dirty="0"/>
          </a:p>
        </p:txBody>
      </p:sp>
      <p:sp>
        <p:nvSpPr>
          <p:cNvPr id="5" name="Theme"/>
          <p:cNvSpPr/>
          <p:nvPr/>
        </p:nvSpPr>
        <p:spPr>
          <a:xfrm>
            <a:off x="658368" y="39319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i="1" kern="0" dirty="0">
                <a:solidFill>
                  <a:srgbClr val="F9A03F"/>
                </a:solidFill>
                <a:latin typeface="Calibri" pitchFamily="34" charset="0"/>
                <a:cs typeface="Calibri" pitchFamily="34" charset="0"/>
              </a:rPr>
              <a:t>Our Data.  Our Intelligence.  Our Future.</a:t>
            </a:r>
            <a:endParaRPr lang="en-US" dirty="0"/>
          </a:p>
        </p:txBody>
      </p:sp>
      <p:sp>
        <p:nvSpPr>
          <p:cNvPr id="6" name="Presented at"/>
          <p:cNvSpPr/>
          <p:nvPr/>
        </p:nvSpPr>
        <p:spPr>
          <a:xfrm>
            <a:off x="658368" y="4343400"/>
            <a:ext cx="7315200" cy="3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" kern="0" dirty="0">
                <a:solidFill>
                  <a:srgbClr val="9DA9C4"/>
                </a:solidFill>
                <a:latin typeface="Calibri" pitchFamily="34" charset="0"/>
                <a:cs typeface="Calibri" pitchFamily="34" charset="0"/>
              </a:rPr>
              <a:t>Presented at  Deep Learning IndabaX Botswana · 2026</a:t>
            </a:r>
            <a:endParaRPr lang="en-US" dirty="0"/>
          </a:p>
        </p:txBody>
      </p:sp>
      <p:sp>
        <p:nvSpPr>
          <p:cNvPr id="7" name="Partnership Pill"/>
          <p:cNvSpPr/>
          <p:nvPr/>
        </p:nvSpPr>
        <p:spPr>
          <a:xfrm>
            <a:off x="8778240" y="457200"/>
            <a:ext cx="29260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effectLst>
            <a:outerShdw blurRad="90000" dist="38100" dir="5400000" rotWithShape="0">
              <a:srgbClr val="0B1233">
                <a:alpha val="40000"/>
              </a:srgbClr>
            </a:outerShdw>
          </a:effectLst>
        </p:spPr>
      </p:sp>
      <p:sp>
        <p:nvSpPr>
          <p:cNvPr id="8" name="In Partnership Label"/>
          <p:cNvSpPr/>
          <p:nvPr/>
        </p:nvSpPr>
        <p:spPr>
          <a:xfrm>
            <a:off x="8778240" y="576072"/>
            <a:ext cx="2926080" cy="21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20" kern="0" dirty="0">
                <a:solidFill>
                  <a:srgbClr val="3A4252"/>
                </a:solidFill>
                <a:latin typeface="Calibri" pitchFamily="34" charset="0"/>
                <a:cs typeface="Calibri" pitchFamily="34" charset="0"/>
              </a:rPr>
              <a:t>IN PARTNERSHIP</a:t>
            </a:r>
            <a:endParaRPr lang="en-US" dirty="0"/>
          </a:p>
        </p:txBody>
      </p:sp>
      <p:pic>
        <p:nvPicPr>
          <p:cNvPr id="9" name="Zim (pill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418" y="1116330"/>
            <a:ext cx="756786" cy="388620"/>
          </a:xfrm>
          <a:prstGeom prst="rect">
            <a:avLst/>
          </a:prstGeom>
        </p:spPr>
      </p:pic>
      <p:sp>
        <p:nvSpPr>
          <p:cNvPr id="10" name="x"/>
          <p:cNvSpPr/>
          <p:nvPr/>
        </p:nvSpPr>
        <p:spPr>
          <a:xfrm>
            <a:off x="10097076" y="115062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kern="0" dirty="0">
                <a:solidFill>
                  <a:srgbClr val="B7C0D6"/>
                </a:solidFill>
                <a:latin typeface="Calibri" pitchFamily="34" charset="0"/>
                <a:cs typeface="Calibri" pitchFamily="34" charset="0"/>
              </a:rPr>
              <a:t>×</a:t>
            </a:r>
            <a:endParaRPr lang="en-US" dirty="0"/>
          </a:p>
        </p:txBody>
      </p:sp>
      <p:pic>
        <p:nvPicPr>
          <p:cNvPr id="11" name="Botswana (pill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268" y="1127760"/>
            <a:ext cx="770873" cy="365760"/>
          </a:xfrm>
          <a:prstGeom prst="rect">
            <a:avLst/>
          </a:prstGeom>
        </p:spPr>
      </p:pic>
      <p:sp>
        <p:nvSpPr>
          <p:cNvPr id="12" name="Collab Label"/>
          <p:cNvSpPr/>
          <p:nvPr/>
        </p:nvSpPr>
        <p:spPr>
          <a:xfrm>
            <a:off x="548640" y="5001768"/>
            <a:ext cx="11094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60" kern="0" dirty="0">
                <a:solidFill>
                  <a:srgbClr val="9DA9C4"/>
                </a:solidFill>
                <a:latin typeface="Calibri" pitchFamily="34" charset="0"/>
                <a:cs typeface="Calibri" pitchFamily="34" charset="0"/>
              </a:rPr>
              <a:t>PRESENTED IN COLLABORATION WITH</a:t>
            </a:r>
            <a:endParaRPr lang="en-US" dirty="0"/>
          </a:p>
        </p:txBody>
      </p:sp>
      <p:sp>
        <p:nvSpPr>
          <p:cNvPr id="13" name="Logo Strip"/>
          <p:cNvSpPr/>
          <p:nvPr/>
        </p:nvSpPr>
        <p:spPr>
          <a:xfrm>
            <a:off x="548640" y="5304790"/>
            <a:ext cx="110947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effectLst>
            <a:outerShdw blurRad="90000" dist="38100" dir="5400000" rotWithShape="0">
              <a:srgbClr val="0B1233">
                <a:alpha val="40000"/>
              </a:srgbClr>
            </a:outerShdw>
          </a:effectLst>
        </p:spPr>
      </p:sp>
      <p:pic>
        <p:nvPicPr>
          <p:cNvPr id="14" name="Botswana (strip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7785" y="5647690"/>
            <a:ext cx="1059951" cy="502920"/>
          </a:xfrm>
          <a:prstGeom prst="rect">
            <a:avLst/>
          </a:prstGeom>
        </p:spPr>
      </p:pic>
      <p:pic>
        <p:nvPicPr>
          <p:cNvPr id="15" name="Zimbabwe (stri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832" y="5670550"/>
            <a:ext cx="890336" cy="457200"/>
          </a:xfrm>
          <a:prstGeom prst="rect">
            <a:avLst/>
          </a:prstGeom>
        </p:spPr>
      </p:pic>
      <p:pic>
        <p:nvPicPr>
          <p:cNvPr id="16" name="DSZ (strip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881" y="5533390"/>
            <a:ext cx="1042719" cy="73152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420"/>
                            <p:tgtEl>
                              <p:spTgt spid="2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03" dur="42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110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420"/>
                            <p:tgtEl>
                              <p:spTgt spid="3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07" dur="42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220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420"/>
                            <p:tgtEl>
                              <p:spTgt spid="4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11" dur="42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330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420"/>
                            <p:tgtEl>
                              <p:spTgt spid="5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15" dur="42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440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420"/>
                            <p:tgtEl>
                              <p:spTgt spid="6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19" dur="42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55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420"/>
                            <p:tgtEl>
                              <p:spTgt spid="7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23" dur="42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660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420"/>
                            <p:tgtEl>
                              <p:spTgt spid="8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27" dur="42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770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420"/>
                            <p:tgtEl>
                              <p:spTgt spid="9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31" dur="42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880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420"/>
                            <p:tgtEl>
                              <p:spTgt spid="10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35" dur="42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990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420"/>
                            <p:tgtEl>
                              <p:spTgt spid="11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39" dur="42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110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420"/>
                            <p:tgtEl>
                              <p:spTgt spid="12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43" dur="42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1210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420"/>
                            <p:tgtEl>
                              <p:spTgt spid="13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47" dur="42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1320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420"/>
                            <p:tgtEl>
                              <p:spTgt spid="14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51" dur="42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1430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420"/>
                            <p:tgtEl>
                              <p:spTgt spid="15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55" dur="42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1540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420"/>
                            <p:tgtEl>
                              <p:spTgt spid="16"/>
                            </p:tgtEl>
                          </p:cBhvr>
                        </p:animEffect>
                        <p:animMotion origin="layout" path="M 0 0.04 L 0 0" pathEditMode="relative" ptsTypes="AA">
                          <p:cBhvr additive="base">
                            <p:cTn id="1059" dur="42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four stages of EDA</a:t>
            </a:r>
            <a:endParaRPr lang="en-US" sz="3400" dirty="0"/>
          </a:p>
        </p:txBody>
      </p:sp>
      <p:pic>
        <p:nvPicPr>
          <p:cNvPr id="3" name="Image 0" descr="logo_botsw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365760"/>
            <a:ext cx="1188720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is the process of reviewing and cleaning data to derive insights and generate hypotheses.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0116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pic>
        <p:nvPicPr>
          <p:cNvPr id="7" name="Image 1" descr="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21992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0" y="19659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AF1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731520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Getting to Know a Dataset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31520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shape &amp; types, validate categories and ranges, summarize with groupby/agg.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19272" y="169164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39312" y="20116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pic>
        <p:nvPicPr>
          <p:cNvPr id="13" name="Image 2" descr="icon_broom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222199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48072" y="19659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AF1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3593592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Cleaning &amp; Manipulation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593592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data, convert types, engineer categories, and manage outliers.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81344" y="169164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01384" y="20116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9A03F"/>
          </a:solidFill>
          <a:ln/>
        </p:spPr>
      </p:sp>
      <p:pic>
        <p:nvPicPr>
          <p:cNvPr id="19" name="Image 3" descr="icon_lin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222199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10144" y="19659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AF1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5"/>
          <p:cNvSpPr/>
          <p:nvPr/>
        </p:nvSpPr>
        <p:spPr>
          <a:xfrm>
            <a:off x="6455664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Relationships in Data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55664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over time, correlation heatmaps, scatter &amp; KDE distributions.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043416" y="169164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363456" y="20116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pic>
        <p:nvPicPr>
          <p:cNvPr id="25" name="Image 4" descr="icon_rock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3768" y="2221992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872216" y="19659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AF1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4400" dirty="0"/>
          </a:p>
        </p:txBody>
      </p:sp>
      <p:sp>
        <p:nvSpPr>
          <p:cNvPr id="27" name="Text 20"/>
          <p:cNvSpPr/>
          <p:nvPr/>
        </p:nvSpPr>
        <p:spPr>
          <a:xfrm>
            <a:off x="9317736" y="3200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Turning EDA into Action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9317736" y="4023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balance, cross-tabs, new features, and forming testable hypotheses.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30" name="Image 5" descr="logo_botswan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50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100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150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200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25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300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350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400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450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50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550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600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650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700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750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800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850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900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950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100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4" fill="hold">
                      <p:stCondLst>
                        <p:cond delay="1050"/>
                      </p:stCondLst>
                      <p:childTnLst>
                        <p:set>
                          <p:cBhvr>
                            <p:cTn id="1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6" dur="380"/>
                            <p:tgtEl>
                              <p:spTgt spid="2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7" dur="380"/>
                            <p:tgtEl>
                              <p:spTgt spid="2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8" fill="hold">
                      <p:stCondLst>
                        <p:cond delay="1100"/>
                      </p:stCondLst>
                      <p:childTnLst>
                        <p:set>
                          <p:cBhvr>
                            <p:cTn id="1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0" dur="380"/>
                            <p:tgtEl>
                              <p:spTgt spid="2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1" dur="380"/>
                            <p:tgtEl>
                              <p:spTgt spid="2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2" fill="hold">
                      <p:stCondLst>
                        <p:cond delay="1150"/>
                      </p:stCondLst>
                      <p:childTnLst>
                        <p:set>
                          <p:cBhvr>
                            <p:cTn id="10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4" dur="380"/>
                            <p:tgtEl>
                              <p:spTgt spid="2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5" dur="380"/>
                            <p:tgtEl>
                              <p:spTgt spid="2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6" fill="hold">
                      <p:stCondLst>
                        <p:cond delay="1200"/>
                      </p:stCondLst>
                      <p:childTnLst>
                        <p:set>
                          <p:cBhvr>
                            <p:cTn id="10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8" dur="380"/>
                            <p:tgtEl>
                              <p:spTgt spid="2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9" dur="380"/>
                            <p:tgtEl>
                              <p:spTgt spid="2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0" fill="hold">
                      <p:stCondLst>
                        <p:cond delay="1250"/>
                      </p:stCondLst>
                      <p:childTnLst>
                        <p:set>
                          <p:cBhvr>
                            <p:cTn id="1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2" dur="380"/>
                            <p:tgtEl>
                              <p:spTgt spid="2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3" dur="380"/>
                            <p:tgtEl>
                              <p:spTgt spid="2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4" fill="hold">
                      <p:stCondLst>
                        <p:cond delay="1300"/>
                      </p:stCondLst>
                      <p:childTnLst>
                        <p:set>
                          <p:cBhvr>
                            <p:cTn id="11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6" dur="380"/>
                            <p:tgtEl>
                              <p:spTgt spid="2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7" dur="380"/>
                            <p:tgtEl>
                              <p:spTgt spid="2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8" fill="hold">
                      <p:stCondLst>
                        <p:cond delay="1350"/>
                      </p:stCondLst>
                      <p:childTnLst>
                        <p:set>
                          <p:cBhvr>
                            <p:cTn id="11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0" dur="380"/>
                            <p:tgtEl>
                              <p:spTgt spid="2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1" dur="380"/>
                            <p:tgtEl>
                              <p:spTgt spid="2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2" fill="hold">
                      <p:stCondLst>
                        <p:cond delay="1400"/>
                      </p:stCondLst>
                      <p:childTnLst>
                        <p:set>
                          <p:cBhvr>
                            <p:cTn id="11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4" dur="380"/>
                            <p:tgtEl>
                              <p:spTgt spid="3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5" dur="380"/>
                            <p:tgtEl>
                              <p:spTgt spid="3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6" fill="hold">
                      <p:stCondLst>
                        <p:cond delay="1450"/>
                      </p:stCondLst>
                      <p:childTnLst>
                        <p:set>
                          <p:cBhvr>
                            <p:cTn id="11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8" dur="380"/>
                            <p:tgtEl>
                              <p:spTgt spid="3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9" dur="380"/>
                            <p:tgtEl>
                              <p:spTgt spid="3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unemployment — monthly, Jan to Oct 2020. Each row is one region in one month.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949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6949440" cy="47548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/ region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21031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6949440" cy="475488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786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5786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of observation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57860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6949440" cy="47548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540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Unemployment_Rate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05409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unemployment 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05409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6949440" cy="475488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2958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5295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number employed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52958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6949440" cy="47548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050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Labour_Participation_Rate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0050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population in labour force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400507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6949440" cy="475488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805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44805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 (N/S/E/W/NE)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44805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173736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19659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267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777240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921240" y="173736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19659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92124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37033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9050">
            <a:solidFill>
              <a:srgbClr val="F9A0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3931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A0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7772400" y="4846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921240" y="37033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21240" y="3931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76%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9921240" y="4846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45" name="Image 0" descr="logo_botsw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33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66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99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132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165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198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231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264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297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33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363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396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429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462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495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528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561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594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627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66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4" fill="hold">
                      <p:stCondLst>
                        <p:cond delay="693"/>
                      </p:stCondLst>
                      <p:childTnLst>
                        <p:set>
                          <p:cBhvr>
                            <p:cTn id="1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6" dur="380"/>
                            <p:tgtEl>
                              <p:spTgt spid="2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7" dur="380"/>
                            <p:tgtEl>
                              <p:spTgt spid="2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8" fill="hold">
                      <p:stCondLst>
                        <p:cond delay="726"/>
                      </p:stCondLst>
                      <p:childTnLst>
                        <p:set>
                          <p:cBhvr>
                            <p:cTn id="1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0" dur="380"/>
                            <p:tgtEl>
                              <p:spTgt spid="2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1" dur="380"/>
                            <p:tgtEl>
                              <p:spTgt spid="2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2" fill="hold">
                      <p:stCondLst>
                        <p:cond delay="759"/>
                      </p:stCondLst>
                      <p:childTnLst>
                        <p:set>
                          <p:cBhvr>
                            <p:cTn id="10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4" dur="380"/>
                            <p:tgtEl>
                              <p:spTgt spid="2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5" dur="380"/>
                            <p:tgtEl>
                              <p:spTgt spid="2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6" fill="hold">
                      <p:stCondLst>
                        <p:cond delay="792"/>
                      </p:stCondLst>
                      <p:childTnLst>
                        <p:set>
                          <p:cBhvr>
                            <p:cTn id="10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8" dur="380"/>
                            <p:tgtEl>
                              <p:spTgt spid="2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9" dur="380"/>
                            <p:tgtEl>
                              <p:spTgt spid="2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0" fill="hold">
                      <p:stCondLst>
                        <p:cond delay="825"/>
                      </p:stCondLst>
                      <p:childTnLst>
                        <p:set>
                          <p:cBhvr>
                            <p:cTn id="1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2" dur="380"/>
                            <p:tgtEl>
                              <p:spTgt spid="2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3" dur="380"/>
                            <p:tgtEl>
                              <p:spTgt spid="2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4" fill="hold">
                      <p:stCondLst>
                        <p:cond delay="858"/>
                      </p:stCondLst>
                      <p:childTnLst>
                        <p:set>
                          <p:cBhvr>
                            <p:cTn id="11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6" dur="380"/>
                            <p:tgtEl>
                              <p:spTgt spid="2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7" dur="380"/>
                            <p:tgtEl>
                              <p:spTgt spid="2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8" fill="hold">
                      <p:stCondLst>
                        <p:cond delay="891"/>
                      </p:stCondLst>
                      <p:childTnLst>
                        <p:set>
                          <p:cBhvr>
                            <p:cTn id="11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0" dur="380"/>
                            <p:tgtEl>
                              <p:spTgt spid="2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1" dur="380"/>
                            <p:tgtEl>
                              <p:spTgt spid="2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2" fill="hold">
                      <p:stCondLst>
                        <p:cond delay="924"/>
                      </p:stCondLst>
                      <p:childTnLst>
                        <p:set>
                          <p:cBhvr>
                            <p:cTn id="11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4" dur="380"/>
                            <p:tgtEl>
                              <p:spTgt spid="3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5" dur="380"/>
                            <p:tgtEl>
                              <p:spTgt spid="3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6" fill="hold">
                      <p:stCondLst>
                        <p:cond delay="957"/>
                      </p:stCondLst>
                      <p:childTnLst>
                        <p:set>
                          <p:cBhvr>
                            <p:cTn id="11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8" dur="380"/>
                            <p:tgtEl>
                              <p:spTgt spid="3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9" dur="380"/>
                            <p:tgtEl>
                              <p:spTgt spid="3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0" fill="hold">
                      <p:stCondLst>
                        <p:cond delay="990"/>
                      </p:stCondLst>
                      <p:childTnLst>
                        <p:set>
                          <p:cBhvr>
                            <p:cTn id="1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2" dur="380"/>
                            <p:tgtEl>
                              <p:spTgt spid="3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3" dur="380"/>
                            <p:tgtEl>
                              <p:spTgt spid="3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4" fill="hold">
                      <p:stCondLst>
                        <p:cond delay="1023"/>
                      </p:stCondLst>
                      <p:childTnLst>
                        <p:set>
                          <p:cBhvr>
                            <p:cTn id="11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6" dur="380"/>
                            <p:tgtEl>
                              <p:spTgt spid="3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7" dur="380"/>
                            <p:tgtEl>
                              <p:spTgt spid="3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8" fill="hold">
                      <p:stCondLst>
                        <p:cond delay="1056"/>
                      </p:stCondLst>
                      <p:childTnLst>
                        <p:set>
                          <p:cBhvr>
                            <p:cTn id="11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0" dur="380"/>
                            <p:tgtEl>
                              <p:spTgt spid="3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1" dur="380"/>
                            <p:tgtEl>
                              <p:spTgt spid="3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2" fill="hold">
                      <p:stCondLst>
                        <p:cond delay="1089"/>
                      </p:stCondLst>
                      <p:childTnLst>
                        <p:set>
                          <p:cBhvr>
                            <p:cTn id="1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4" dur="380"/>
                            <p:tgtEl>
                              <p:spTgt spid="3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5" dur="380"/>
                            <p:tgtEl>
                              <p:spTgt spid="3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6" fill="hold">
                      <p:stCondLst>
                        <p:cond delay="1122"/>
                      </p:stCondLst>
                      <p:childTnLst>
                        <p:set>
                          <p:cBhvr>
                            <p:cTn id="11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8" dur="380"/>
                            <p:tgtEl>
                              <p:spTgt spid="3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9" dur="380"/>
                            <p:tgtEl>
                              <p:spTgt spid="3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0" fill="hold">
                      <p:stCondLst>
                        <p:cond delay="1155"/>
                      </p:stCondLst>
                      <p:childTnLst>
                        <p:set>
                          <p:cBhvr>
                            <p:cTn id="1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2" dur="380"/>
                            <p:tgtEl>
                              <p:spTgt spid="3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3" dur="380"/>
                            <p:tgtEl>
                              <p:spTgt spid="3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4" fill="hold">
                      <p:stCondLst>
                        <p:cond delay="1188"/>
                      </p:stCondLst>
                      <p:childTnLst>
                        <p:set>
                          <p:cBhvr>
                            <p:cTn id="11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6" dur="380"/>
                            <p:tgtEl>
                              <p:spTgt spid="3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7" dur="380"/>
                            <p:tgtEl>
                              <p:spTgt spid="3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8" fill="hold">
                      <p:stCondLst>
                        <p:cond delay="1221"/>
                      </p:stCondLst>
                      <p:childTnLst>
                        <p:set>
                          <p:cBhvr>
                            <p:cTn id="1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0" dur="380"/>
                            <p:tgtEl>
                              <p:spTgt spid="3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1" dur="380"/>
                            <p:tgtEl>
                              <p:spTgt spid="3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2" fill="hold">
                      <p:stCondLst>
                        <p:cond delay="1254"/>
                      </p:stCondLst>
                      <p:childTnLst>
                        <p:set>
                          <p:cBhvr>
                            <p:cTn id="11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4" dur="380"/>
                            <p:tgtEl>
                              <p:spTgt spid="4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5" dur="380"/>
                            <p:tgtEl>
                              <p:spTgt spid="4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6" fill="hold">
                      <p:stCondLst>
                        <p:cond delay="1287"/>
                      </p:stCondLst>
                      <p:childTnLst>
                        <p:set>
                          <p:cBhvr>
                            <p:cTn id="11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8" dur="380"/>
                            <p:tgtEl>
                              <p:spTgt spid="4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9" dur="380"/>
                            <p:tgtEl>
                              <p:spTgt spid="4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0" fill="hold">
                      <p:stCondLst>
                        <p:cond delay="1320"/>
                      </p:stCondLst>
                      <p:childTnLst>
                        <p:set>
                          <p:cBhvr>
                            <p:cTn id="1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2" dur="380"/>
                            <p:tgtEl>
                              <p:spTgt spid="4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3" dur="380"/>
                            <p:tgtEl>
                              <p:spTgt spid="4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4" fill="hold">
                      <p:stCondLst>
                        <p:cond delay="1353"/>
                      </p:stCondLst>
                      <p:childTnLst>
                        <p:set>
                          <p:cBhvr>
                            <p:cTn id="11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6" dur="380"/>
                            <p:tgtEl>
                              <p:spTgt spid="4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7" dur="380"/>
                            <p:tgtEl>
                              <p:spTgt spid="4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8" fill="hold">
                      <p:stCondLst>
                        <p:cond delay="1386"/>
                      </p:stCondLst>
                      <p:childTnLst>
                        <p:set>
                          <p:cBhvr>
                            <p:cTn id="1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0" dur="380"/>
                            <p:tgtEl>
                              <p:spTgt spid="4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1" dur="380"/>
                            <p:tgtEl>
                              <p:spTgt spid="4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72" fill="hold">
                      <p:stCondLst>
                        <p:cond delay="1419"/>
                      </p:stCondLst>
                      <p:childTnLst>
                        <p:set>
                          <p:cBhvr>
                            <p:cTn id="11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4" dur="380"/>
                            <p:tgtEl>
                              <p:spTgt spid="4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5" dur="380"/>
                            <p:tgtEl>
                              <p:spTgt spid="4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76" fill="hold">
                      <p:stCondLst>
                        <p:cond delay="1452"/>
                      </p:stCondLst>
                      <p:childTnLst>
                        <p:set>
                          <p:cBhvr>
                            <p:cTn id="11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8" dur="380"/>
                            <p:tgtEl>
                              <p:spTgt spid="4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9" dur="380"/>
                            <p:tgtEl>
                              <p:spTgt spid="4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</p:sp>
      <p:pic>
        <p:nvPicPr>
          <p:cNvPr id="3" name="Image 0" descr="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52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81328" y="62179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Getting to Know a Dataset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08760" y="131673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contact: shape, types, validation, and summaries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9659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.head(), .info(), .describe() reveal structure &amp; dtypes.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443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898648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.value_counts() and .nunique() profile categories.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877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3831336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.isin() checks categories; .min()/.max() check ranges.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09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476402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groupby().agg() with named aggregations per zone.</a:t>
            </a:r>
            <a:endParaRPr lang="en-US" sz="1250" dirty="0"/>
          </a:p>
        </p:txBody>
      </p:sp>
      <p:pic>
        <p:nvPicPr>
          <p:cNvPr id="19" name="Image 1" descr="img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5120640" cy="33832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21" name="Image 2" descr="logo_botswa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71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142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213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284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355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426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497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568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639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71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781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852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923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994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1065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1136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1207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1278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1349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142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</p:sp>
      <p:pic>
        <p:nvPicPr>
          <p:cNvPr id="3" name="Image 0" descr="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52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81328" y="62179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Getting to Know a Dataset — implementation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08760" y="131673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techniques, with code   ·   rate = Unemployment_Rate for brevity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" y="1856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4708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Initial exploration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" y="2221992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2585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64224" y="1856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6364224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48272" y="184708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Count categorical values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64224" y="2221992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18" name="Text 15"/>
          <p:cNvSpPr/>
          <p:nvPr/>
        </p:nvSpPr>
        <p:spPr>
          <a:xfrm>
            <a:off x="6510528" y="22585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df["Zone"].value_counts()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df["State"].nunique()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319272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" y="34381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3429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Detect data types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3504" y="3803904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# non-null + dtype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17920" y="3319272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64224" y="34381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636422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48272" y="3429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 Validate categories with .isin()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64224" y="3803904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30" name="Text 27"/>
          <p:cNvSpPr/>
          <p:nvPr/>
        </p:nvSpPr>
        <p:spPr>
          <a:xfrm>
            <a:off x="6510528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zones = ["North","South","East",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"West","Northeast"]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df["Zone"].isin(zones).all()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490118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" y="50200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33" name="Text 30"/>
          <p:cNvSpPr/>
          <p:nvPr/>
        </p:nvSpPr>
        <p:spPr>
          <a:xfrm>
            <a:off x="603504" y="5020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87552" y="50109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5. Validate numeric range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03504" y="5385816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36" name="Text 33"/>
          <p:cNvSpPr/>
          <p:nvPr/>
        </p:nvSpPr>
        <p:spPr>
          <a:xfrm>
            <a:off x="749808" y="54223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df["rate"].min()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df["rate"].max()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sns.boxplot(data=df, x="rate")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17920" y="490118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64224" y="50200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39" name="Text 36"/>
          <p:cNvSpPr/>
          <p:nvPr/>
        </p:nvSpPr>
        <p:spPr>
          <a:xfrm>
            <a:off x="6364224" y="5020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748272" y="50109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 Named group aggregations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364224" y="5385816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42" name="Text 39"/>
          <p:cNvSpPr/>
          <p:nvPr/>
        </p:nvSpPr>
        <p:spPr>
          <a:xfrm>
            <a:off x="6510528" y="54223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df.groupby("Zone").agg(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avg=("rate","mean"),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std=("rate","std"))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44" name="Image 1" descr="logo_botswa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34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68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102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136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17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204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238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272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306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34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374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408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442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476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510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544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578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612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646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68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4" fill="hold">
                      <p:stCondLst>
                        <p:cond delay="714"/>
                      </p:stCondLst>
                      <p:childTnLst>
                        <p:set>
                          <p:cBhvr>
                            <p:cTn id="1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6" dur="380"/>
                            <p:tgtEl>
                              <p:spTgt spid="2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7" dur="380"/>
                            <p:tgtEl>
                              <p:spTgt spid="2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8" fill="hold">
                      <p:stCondLst>
                        <p:cond delay="748"/>
                      </p:stCondLst>
                      <p:childTnLst>
                        <p:set>
                          <p:cBhvr>
                            <p:cTn id="1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0" dur="380"/>
                            <p:tgtEl>
                              <p:spTgt spid="2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1" dur="380"/>
                            <p:tgtEl>
                              <p:spTgt spid="2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2" fill="hold">
                      <p:stCondLst>
                        <p:cond delay="782"/>
                      </p:stCondLst>
                      <p:childTnLst>
                        <p:set>
                          <p:cBhvr>
                            <p:cTn id="10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4" dur="380"/>
                            <p:tgtEl>
                              <p:spTgt spid="2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5" dur="380"/>
                            <p:tgtEl>
                              <p:spTgt spid="2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6" fill="hold">
                      <p:stCondLst>
                        <p:cond delay="816"/>
                      </p:stCondLst>
                      <p:childTnLst>
                        <p:set>
                          <p:cBhvr>
                            <p:cTn id="10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8" dur="380"/>
                            <p:tgtEl>
                              <p:spTgt spid="2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9" dur="380"/>
                            <p:tgtEl>
                              <p:spTgt spid="2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0" fill="hold">
                      <p:stCondLst>
                        <p:cond delay="850"/>
                      </p:stCondLst>
                      <p:childTnLst>
                        <p:set>
                          <p:cBhvr>
                            <p:cTn id="1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2" dur="380"/>
                            <p:tgtEl>
                              <p:spTgt spid="2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3" dur="380"/>
                            <p:tgtEl>
                              <p:spTgt spid="2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4" fill="hold">
                      <p:stCondLst>
                        <p:cond delay="884"/>
                      </p:stCondLst>
                      <p:childTnLst>
                        <p:set>
                          <p:cBhvr>
                            <p:cTn id="11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6" dur="380"/>
                            <p:tgtEl>
                              <p:spTgt spid="2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7" dur="380"/>
                            <p:tgtEl>
                              <p:spTgt spid="2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8" fill="hold">
                      <p:stCondLst>
                        <p:cond delay="918"/>
                      </p:stCondLst>
                      <p:childTnLst>
                        <p:set>
                          <p:cBhvr>
                            <p:cTn id="11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0" dur="380"/>
                            <p:tgtEl>
                              <p:spTgt spid="2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1" dur="380"/>
                            <p:tgtEl>
                              <p:spTgt spid="2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2" fill="hold">
                      <p:stCondLst>
                        <p:cond delay="952"/>
                      </p:stCondLst>
                      <p:childTnLst>
                        <p:set>
                          <p:cBhvr>
                            <p:cTn id="11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4" dur="380"/>
                            <p:tgtEl>
                              <p:spTgt spid="3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5" dur="380"/>
                            <p:tgtEl>
                              <p:spTgt spid="3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6" fill="hold">
                      <p:stCondLst>
                        <p:cond delay="986"/>
                      </p:stCondLst>
                      <p:childTnLst>
                        <p:set>
                          <p:cBhvr>
                            <p:cTn id="11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8" dur="380"/>
                            <p:tgtEl>
                              <p:spTgt spid="3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9" dur="380"/>
                            <p:tgtEl>
                              <p:spTgt spid="3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0" fill="hold">
                      <p:stCondLst>
                        <p:cond delay="1020"/>
                      </p:stCondLst>
                      <p:childTnLst>
                        <p:set>
                          <p:cBhvr>
                            <p:cTn id="1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2" dur="380"/>
                            <p:tgtEl>
                              <p:spTgt spid="3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3" dur="380"/>
                            <p:tgtEl>
                              <p:spTgt spid="3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4" fill="hold">
                      <p:stCondLst>
                        <p:cond delay="1054"/>
                      </p:stCondLst>
                      <p:childTnLst>
                        <p:set>
                          <p:cBhvr>
                            <p:cTn id="11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6" dur="380"/>
                            <p:tgtEl>
                              <p:spTgt spid="3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7" dur="380"/>
                            <p:tgtEl>
                              <p:spTgt spid="3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8" fill="hold">
                      <p:stCondLst>
                        <p:cond delay="1088"/>
                      </p:stCondLst>
                      <p:childTnLst>
                        <p:set>
                          <p:cBhvr>
                            <p:cTn id="11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0" dur="380"/>
                            <p:tgtEl>
                              <p:spTgt spid="3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1" dur="380"/>
                            <p:tgtEl>
                              <p:spTgt spid="3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2" fill="hold">
                      <p:stCondLst>
                        <p:cond delay="1122"/>
                      </p:stCondLst>
                      <p:childTnLst>
                        <p:set>
                          <p:cBhvr>
                            <p:cTn id="1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4" dur="380"/>
                            <p:tgtEl>
                              <p:spTgt spid="3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5" dur="380"/>
                            <p:tgtEl>
                              <p:spTgt spid="3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6" fill="hold">
                      <p:stCondLst>
                        <p:cond delay="1156"/>
                      </p:stCondLst>
                      <p:childTnLst>
                        <p:set>
                          <p:cBhvr>
                            <p:cTn id="11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8" dur="380"/>
                            <p:tgtEl>
                              <p:spTgt spid="3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9" dur="380"/>
                            <p:tgtEl>
                              <p:spTgt spid="3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0" fill="hold">
                      <p:stCondLst>
                        <p:cond delay="1190"/>
                      </p:stCondLst>
                      <p:childTnLst>
                        <p:set>
                          <p:cBhvr>
                            <p:cTn id="1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2" dur="380"/>
                            <p:tgtEl>
                              <p:spTgt spid="3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3" dur="380"/>
                            <p:tgtEl>
                              <p:spTgt spid="3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4" fill="hold">
                      <p:stCondLst>
                        <p:cond delay="1224"/>
                      </p:stCondLst>
                      <p:childTnLst>
                        <p:set>
                          <p:cBhvr>
                            <p:cTn id="11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6" dur="380"/>
                            <p:tgtEl>
                              <p:spTgt spid="3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7" dur="380"/>
                            <p:tgtEl>
                              <p:spTgt spid="3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8" fill="hold">
                      <p:stCondLst>
                        <p:cond delay="1258"/>
                      </p:stCondLst>
                      <p:childTnLst>
                        <p:set>
                          <p:cBhvr>
                            <p:cTn id="1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0" dur="380"/>
                            <p:tgtEl>
                              <p:spTgt spid="3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1" dur="380"/>
                            <p:tgtEl>
                              <p:spTgt spid="3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2" fill="hold">
                      <p:stCondLst>
                        <p:cond delay="1292"/>
                      </p:stCondLst>
                      <p:childTnLst>
                        <p:set>
                          <p:cBhvr>
                            <p:cTn id="11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4" dur="380"/>
                            <p:tgtEl>
                              <p:spTgt spid="4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5" dur="380"/>
                            <p:tgtEl>
                              <p:spTgt spid="4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6" fill="hold">
                      <p:stCondLst>
                        <p:cond delay="1326"/>
                      </p:stCondLst>
                      <p:childTnLst>
                        <p:set>
                          <p:cBhvr>
                            <p:cTn id="11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8" dur="380"/>
                            <p:tgtEl>
                              <p:spTgt spid="4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9" dur="380"/>
                            <p:tgtEl>
                              <p:spTgt spid="4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0" fill="hold">
                      <p:stCondLst>
                        <p:cond delay="1360"/>
                      </p:stCondLst>
                      <p:childTnLst>
                        <p:set>
                          <p:cBhvr>
                            <p:cTn id="1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2" dur="380"/>
                            <p:tgtEl>
                              <p:spTgt spid="4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3" dur="380"/>
                            <p:tgtEl>
                              <p:spTgt spid="4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4" fill="hold">
                      <p:stCondLst>
                        <p:cond delay="1394"/>
                      </p:stCondLst>
                      <p:childTnLst>
                        <p:set>
                          <p:cBhvr>
                            <p:cTn id="11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6" dur="380"/>
                            <p:tgtEl>
                              <p:spTgt spid="4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7" dur="380"/>
                            <p:tgtEl>
                              <p:spTgt spid="4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8" fill="hold">
                      <p:stCondLst>
                        <p:cond delay="1428"/>
                      </p:stCondLst>
                      <p:childTnLst>
                        <p:set>
                          <p:cBhvr>
                            <p:cTn id="1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0" dur="380"/>
                            <p:tgtEl>
                              <p:spTgt spid="4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1" dur="380"/>
                            <p:tgtEl>
                              <p:spTgt spid="4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72" fill="hold">
                      <p:stCondLst>
                        <p:cond delay="1462"/>
                      </p:stCondLst>
                      <p:childTnLst>
                        <p:set>
                          <p:cBhvr>
                            <p:cTn id="11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4" dur="380"/>
                            <p:tgtEl>
                              <p:spTgt spid="4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5" dur="380"/>
                            <p:tgtEl>
                              <p:spTgt spid="4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96167"/>
          </a:solidFill>
          <a:ln/>
        </p:spPr>
      </p:sp>
      <p:pic>
        <p:nvPicPr>
          <p:cNvPr id="3" name="Image 0" descr="icon_broom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52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81328" y="62179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Cleaning &amp; Manipulation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08760" y="131673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data, type conversion, feature creation, outliers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9659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if &lt;5%; else impute mean/median/mode, or by sub-group.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443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898648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.str.contains() + np.select() build new labels.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877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3831336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Numerics.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.str.replace().astype(float); attach stats via .transform().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09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476402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 flags extremes beyond 1.5×IQR of the quartiles.</a:t>
            </a:r>
            <a:endParaRPr lang="en-US" sz="1250" dirty="0"/>
          </a:p>
        </p:txBody>
      </p:sp>
      <p:pic>
        <p:nvPicPr>
          <p:cNvPr id="19" name="Image 1" descr="img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3291840" cy="32918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21" name="Image 2" descr="logo_botswa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71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142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213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284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355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426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497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568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639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71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781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852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923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994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1065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1136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1207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1278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1349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142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96167"/>
          </a:solidFill>
          <a:ln/>
        </p:spPr>
      </p:sp>
      <p:pic>
        <p:nvPicPr>
          <p:cNvPr id="3" name="Image 0" descr="icon_broom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52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81328" y="62179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Cleaning &amp; Manipulation — implementation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08760" y="131673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techniques, with code   ·   rate = Unemployment_Rate for brevity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" y="1856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4708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Check for missing values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" y="2221992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2585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64224" y="1856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6364224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48272" y="184708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Drop rows missing ≤5%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64224" y="2221992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18" name="Text 15"/>
          <p:cNvSpPr/>
          <p:nvPr/>
        </p:nvSpPr>
        <p:spPr>
          <a:xfrm>
            <a:off x="6510528" y="22585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 = len(df) * 0.05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 = df.columns[df.isna().sum() &lt;= thresh]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df.dropna(subset=cols, inplace=True)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319272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" y="34381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6167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3429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Impute a summary statistic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3504" y="3803904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df["rate"].fillna(df["rate"].median())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df["Zone"].fillna(df["Zone"].mode()[0])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17920" y="3319272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64224" y="34381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6167"/>
          </a:solidFill>
          <a:ln/>
        </p:spPr>
      </p:sp>
      <p:sp>
        <p:nvSpPr>
          <p:cNvPr id="27" name="Text 24"/>
          <p:cNvSpPr/>
          <p:nvPr/>
        </p:nvSpPr>
        <p:spPr>
          <a:xfrm>
            <a:off x="636422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48272" y="3429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 Impute by sub-group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64224" y="3803904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30" name="Text 27"/>
          <p:cNvSpPr/>
          <p:nvPr/>
        </p:nvSpPr>
        <p:spPr>
          <a:xfrm>
            <a:off x="6510528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df["rate"] = df["rate"].fillna(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df.groupby("Zone")["rate"]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.transform("median"))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490118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" y="50200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6167"/>
          </a:solidFill>
          <a:ln/>
        </p:spPr>
      </p:sp>
      <p:sp>
        <p:nvSpPr>
          <p:cNvPr id="33" name="Text 30"/>
          <p:cNvSpPr/>
          <p:nvPr/>
        </p:nvSpPr>
        <p:spPr>
          <a:xfrm>
            <a:off x="603504" y="5020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87552" y="50109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5. New category with np.select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03504" y="5385816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36" name="Text 33"/>
          <p:cNvSpPr/>
          <p:nvPr/>
        </p:nvSpPr>
        <p:spPr>
          <a:xfrm>
            <a:off x="749808" y="54223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conds = [df["State"].str.contains("Punjab"),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df["State"].str.contains("Kerala")]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df["Region"] = np.select(conds,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["North","South"], default="Other")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17920" y="490118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64224" y="50200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6167"/>
          </a:solidFill>
          <a:ln/>
        </p:spPr>
      </p:sp>
      <p:sp>
        <p:nvSpPr>
          <p:cNvPr id="39" name="Text 36"/>
          <p:cNvSpPr/>
          <p:nvPr/>
        </p:nvSpPr>
        <p:spPr>
          <a:xfrm>
            <a:off x="6364224" y="5020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748272" y="50109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 Flag outliers with IQR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364224" y="5385816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42" name="Text 39"/>
          <p:cNvSpPr/>
          <p:nvPr/>
        </p:nvSpPr>
        <p:spPr>
          <a:xfrm>
            <a:off x="6510528" y="54223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q1,q3 = df["rate"].quantile([.25,.75])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q3 + 1.5*iqr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df[df["rate"] &gt; upper]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44" name="Image 1" descr="logo_botswa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34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68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102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136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17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204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238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272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306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34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374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408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442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476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510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544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578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612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646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68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4" fill="hold">
                      <p:stCondLst>
                        <p:cond delay="714"/>
                      </p:stCondLst>
                      <p:childTnLst>
                        <p:set>
                          <p:cBhvr>
                            <p:cTn id="1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6" dur="380"/>
                            <p:tgtEl>
                              <p:spTgt spid="2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7" dur="380"/>
                            <p:tgtEl>
                              <p:spTgt spid="2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8" fill="hold">
                      <p:stCondLst>
                        <p:cond delay="748"/>
                      </p:stCondLst>
                      <p:childTnLst>
                        <p:set>
                          <p:cBhvr>
                            <p:cTn id="1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0" dur="380"/>
                            <p:tgtEl>
                              <p:spTgt spid="2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1" dur="380"/>
                            <p:tgtEl>
                              <p:spTgt spid="2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2" fill="hold">
                      <p:stCondLst>
                        <p:cond delay="782"/>
                      </p:stCondLst>
                      <p:childTnLst>
                        <p:set>
                          <p:cBhvr>
                            <p:cTn id="10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4" dur="380"/>
                            <p:tgtEl>
                              <p:spTgt spid="2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5" dur="380"/>
                            <p:tgtEl>
                              <p:spTgt spid="2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6" fill="hold">
                      <p:stCondLst>
                        <p:cond delay="816"/>
                      </p:stCondLst>
                      <p:childTnLst>
                        <p:set>
                          <p:cBhvr>
                            <p:cTn id="10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8" dur="380"/>
                            <p:tgtEl>
                              <p:spTgt spid="2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9" dur="380"/>
                            <p:tgtEl>
                              <p:spTgt spid="2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0" fill="hold">
                      <p:stCondLst>
                        <p:cond delay="850"/>
                      </p:stCondLst>
                      <p:childTnLst>
                        <p:set>
                          <p:cBhvr>
                            <p:cTn id="1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2" dur="380"/>
                            <p:tgtEl>
                              <p:spTgt spid="2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3" dur="380"/>
                            <p:tgtEl>
                              <p:spTgt spid="2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4" fill="hold">
                      <p:stCondLst>
                        <p:cond delay="884"/>
                      </p:stCondLst>
                      <p:childTnLst>
                        <p:set>
                          <p:cBhvr>
                            <p:cTn id="11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6" dur="380"/>
                            <p:tgtEl>
                              <p:spTgt spid="2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7" dur="380"/>
                            <p:tgtEl>
                              <p:spTgt spid="2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8" fill="hold">
                      <p:stCondLst>
                        <p:cond delay="918"/>
                      </p:stCondLst>
                      <p:childTnLst>
                        <p:set>
                          <p:cBhvr>
                            <p:cTn id="11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0" dur="380"/>
                            <p:tgtEl>
                              <p:spTgt spid="2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1" dur="380"/>
                            <p:tgtEl>
                              <p:spTgt spid="2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2" fill="hold">
                      <p:stCondLst>
                        <p:cond delay="952"/>
                      </p:stCondLst>
                      <p:childTnLst>
                        <p:set>
                          <p:cBhvr>
                            <p:cTn id="11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4" dur="380"/>
                            <p:tgtEl>
                              <p:spTgt spid="3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5" dur="380"/>
                            <p:tgtEl>
                              <p:spTgt spid="3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6" fill="hold">
                      <p:stCondLst>
                        <p:cond delay="986"/>
                      </p:stCondLst>
                      <p:childTnLst>
                        <p:set>
                          <p:cBhvr>
                            <p:cTn id="11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8" dur="380"/>
                            <p:tgtEl>
                              <p:spTgt spid="3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9" dur="380"/>
                            <p:tgtEl>
                              <p:spTgt spid="3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0" fill="hold">
                      <p:stCondLst>
                        <p:cond delay="1020"/>
                      </p:stCondLst>
                      <p:childTnLst>
                        <p:set>
                          <p:cBhvr>
                            <p:cTn id="1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2" dur="380"/>
                            <p:tgtEl>
                              <p:spTgt spid="3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3" dur="380"/>
                            <p:tgtEl>
                              <p:spTgt spid="3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4" fill="hold">
                      <p:stCondLst>
                        <p:cond delay="1054"/>
                      </p:stCondLst>
                      <p:childTnLst>
                        <p:set>
                          <p:cBhvr>
                            <p:cTn id="11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6" dur="380"/>
                            <p:tgtEl>
                              <p:spTgt spid="3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7" dur="380"/>
                            <p:tgtEl>
                              <p:spTgt spid="3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8" fill="hold">
                      <p:stCondLst>
                        <p:cond delay="1088"/>
                      </p:stCondLst>
                      <p:childTnLst>
                        <p:set>
                          <p:cBhvr>
                            <p:cTn id="11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0" dur="380"/>
                            <p:tgtEl>
                              <p:spTgt spid="3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1" dur="380"/>
                            <p:tgtEl>
                              <p:spTgt spid="3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2" fill="hold">
                      <p:stCondLst>
                        <p:cond delay="1122"/>
                      </p:stCondLst>
                      <p:childTnLst>
                        <p:set>
                          <p:cBhvr>
                            <p:cTn id="1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4" dur="380"/>
                            <p:tgtEl>
                              <p:spTgt spid="3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5" dur="380"/>
                            <p:tgtEl>
                              <p:spTgt spid="3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6" fill="hold">
                      <p:stCondLst>
                        <p:cond delay="1156"/>
                      </p:stCondLst>
                      <p:childTnLst>
                        <p:set>
                          <p:cBhvr>
                            <p:cTn id="11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8" dur="380"/>
                            <p:tgtEl>
                              <p:spTgt spid="3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9" dur="380"/>
                            <p:tgtEl>
                              <p:spTgt spid="3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0" fill="hold">
                      <p:stCondLst>
                        <p:cond delay="1190"/>
                      </p:stCondLst>
                      <p:childTnLst>
                        <p:set>
                          <p:cBhvr>
                            <p:cTn id="1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2" dur="380"/>
                            <p:tgtEl>
                              <p:spTgt spid="3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3" dur="380"/>
                            <p:tgtEl>
                              <p:spTgt spid="3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4" fill="hold">
                      <p:stCondLst>
                        <p:cond delay="1224"/>
                      </p:stCondLst>
                      <p:childTnLst>
                        <p:set>
                          <p:cBhvr>
                            <p:cTn id="11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6" dur="380"/>
                            <p:tgtEl>
                              <p:spTgt spid="3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7" dur="380"/>
                            <p:tgtEl>
                              <p:spTgt spid="3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8" fill="hold">
                      <p:stCondLst>
                        <p:cond delay="1258"/>
                      </p:stCondLst>
                      <p:childTnLst>
                        <p:set>
                          <p:cBhvr>
                            <p:cTn id="1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0" dur="380"/>
                            <p:tgtEl>
                              <p:spTgt spid="3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1" dur="380"/>
                            <p:tgtEl>
                              <p:spTgt spid="3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2" fill="hold">
                      <p:stCondLst>
                        <p:cond delay="1292"/>
                      </p:stCondLst>
                      <p:childTnLst>
                        <p:set>
                          <p:cBhvr>
                            <p:cTn id="11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4" dur="380"/>
                            <p:tgtEl>
                              <p:spTgt spid="4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5" dur="380"/>
                            <p:tgtEl>
                              <p:spTgt spid="4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6" fill="hold">
                      <p:stCondLst>
                        <p:cond delay="1326"/>
                      </p:stCondLst>
                      <p:childTnLst>
                        <p:set>
                          <p:cBhvr>
                            <p:cTn id="11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8" dur="380"/>
                            <p:tgtEl>
                              <p:spTgt spid="4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9" dur="380"/>
                            <p:tgtEl>
                              <p:spTgt spid="4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0" fill="hold">
                      <p:stCondLst>
                        <p:cond delay="1360"/>
                      </p:stCondLst>
                      <p:childTnLst>
                        <p:set>
                          <p:cBhvr>
                            <p:cTn id="1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2" dur="380"/>
                            <p:tgtEl>
                              <p:spTgt spid="4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3" dur="380"/>
                            <p:tgtEl>
                              <p:spTgt spid="4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4" fill="hold">
                      <p:stCondLst>
                        <p:cond delay="1394"/>
                      </p:stCondLst>
                      <p:childTnLst>
                        <p:set>
                          <p:cBhvr>
                            <p:cTn id="11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6" dur="380"/>
                            <p:tgtEl>
                              <p:spTgt spid="4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7" dur="380"/>
                            <p:tgtEl>
                              <p:spTgt spid="4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8" fill="hold">
                      <p:stCondLst>
                        <p:cond delay="1428"/>
                      </p:stCondLst>
                      <p:childTnLst>
                        <p:set>
                          <p:cBhvr>
                            <p:cTn id="1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0" dur="380"/>
                            <p:tgtEl>
                              <p:spTgt spid="4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1" dur="380"/>
                            <p:tgtEl>
                              <p:spTgt spid="4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72" fill="hold">
                      <p:stCondLst>
                        <p:cond delay="1462"/>
                      </p:stCondLst>
                      <p:childTnLst>
                        <p:set>
                          <p:cBhvr>
                            <p:cTn id="11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4" dur="380"/>
                            <p:tgtEl>
                              <p:spTgt spid="4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5" dur="380"/>
                            <p:tgtEl>
                              <p:spTgt spid="4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9A03F"/>
          </a:solidFill>
          <a:ln/>
        </p:spPr>
      </p:sp>
      <p:pic>
        <p:nvPicPr>
          <p:cNvPr id="3" name="Image 0" descr="icon_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52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81328" y="62179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Relationships in Data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08760" y="131673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move together — over time and in strength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03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9659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to_datetime() + lineplot expose the 2020 lockdown spike.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443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03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898648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.corr() + heatmap show direction &amp; strength.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877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03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3831336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 &amp; pairplot for numeric relationships.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09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03F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476402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stripplot &amp; kdeplot reveal per-group spread.</a:t>
            </a:r>
            <a:endParaRPr lang="en-US" sz="1250" dirty="0"/>
          </a:p>
        </p:txBody>
      </p:sp>
      <p:pic>
        <p:nvPicPr>
          <p:cNvPr id="19" name="Image 1" descr="img_tim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5212080" cy="30175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21" name="Image 2" descr="logo_botswa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71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142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213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284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355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426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497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568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639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71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781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852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923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994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1065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1136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1207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1278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1349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142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9A03F"/>
          </a:solidFill>
          <a:ln/>
        </p:spPr>
      </p:sp>
      <p:pic>
        <p:nvPicPr>
          <p:cNvPr id="3" name="Image 0" descr="icon_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52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81328" y="62179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Relationships in Data — implementation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08760" y="131673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techniques, with code   ·   rate = Unemployment_Rate for brevity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" y="1856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A03F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4708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Convert to DateTime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" y="2221992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2585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df["Date"] = pd.to_datetime(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df["Date"], format="%d-%m-%Y")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64224" y="1856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A03F"/>
          </a:solidFill>
          <a:ln/>
        </p:spPr>
      </p:sp>
      <p:sp>
        <p:nvSpPr>
          <p:cNvPr id="15" name="Text 12"/>
          <p:cNvSpPr/>
          <p:nvPr/>
        </p:nvSpPr>
        <p:spPr>
          <a:xfrm>
            <a:off x="6364224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48272" y="184708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Extract date parts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64224" y="2221992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18" name="Text 15"/>
          <p:cNvSpPr/>
          <p:nvPr/>
        </p:nvSpPr>
        <p:spPr>
          <a:xfrm>
            <a:off x="6510528" y="22585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df["month"]   = df["Date"].dt.month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df["quarter"] = df["Date"].dt.quarter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319272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" y="34381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A03F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3429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Relationships over time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3504" y="3803904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df.groupby("Date")["rate"].mean()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sns.lineplot(data=m.reset_index(),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x="Date", y="rate")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17920" y="3319272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64224" y="34381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A03F"/>
          </a:solidFill>
          <a:ln/>
        </p:spPr>
      </p:sp>
      <p:sp>
        <p:nvSpPr>
          <p:cNvPr id="27" name="Text 24"/>
          <p:cNvSpPr/>
          <p:nvPr/>
        </p:nvSpPr>
        <p:spPr>
          <a:xfrm>
            <a:off x="636422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48272" y="3429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 Correlation heatmap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64224" y="3803904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30" name="Text 27"/>
          <p:cNvSpPr/>
          <p:nvPr/>
        </p:nvSpPr>
        <p:spPr>
          <a:xfrm>
            <a:off x="6510528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df[num_cols].corr()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sns.heatmap(corr, annot=True,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cmap="coolwarm")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490118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" y="50200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A03F"/>
          </a:solidFill>
          <a:ln/>
        </p:spPr>
      </p:sp>
      <p:sp>
        <p:nvSpPr>
          <p:cNvPr id="33" name="Text 30"/>
          <p:cNvSpPr/>
          <p:nvPr/>
        </p:nvSpPr>
        <p:spPr>
          <a:xfrm>
            <a:off x="603504" y="5020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87552" y="50109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5. Scatter &amp; pairplot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03504" y="5385816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36" name="Text 33"/>
          <p:cNvSpPr/>
          <p:nvPr/>
        </p:nvSpPr>
        <p:spPr>
          <a:xfrm>
            <a:off x="749808" y="54223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sns.scatterplot(data=df, x="lpr",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y="rate", hue="Zone")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sns.pairplot(df[num_cols])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17920" y="490118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64224" y="50200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9A03F"/>
          </a:solidFill>
          <a:ln/>
        </p:spPr>
      </p:sp>
      <p:sp>
        <p:nvSpPr>
          <p:cNvPr id="39" name="Text 36"/>
          <p:cNvSpPr/>
          <p:nvPr/>
        </p:nvSpPr>
        <p:spPr>
          <a:xfrm>
            <a:off x="6364224" y="5020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748272" y="50109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 KDE distribution by group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364224" y="5385816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42" name="Text 39"/>
          <p:cNvSpPr/>
          <p:nvPr/>
        </p:nvSpPr>
        <p:spPr>
          <a:xfrm>
            <a:off x="6510528" y="54223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sns.kdeplot(data=df, x="rate",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hue="Zone", fill=True)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44" name="Image 1" descr="logo_botswa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34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68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102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136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17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204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238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272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306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34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374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408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442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476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510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544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578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612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646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68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4" fill="hold">
                      <p:stCondLst>
                        <p:cond delay="714"/>
                      </p:stCondLst>
                      <p:childTnLst>
                        <p:set>
                          <p:cBhvr>
                            <p:cTn id="1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6" dur="380"/>
                            <p:tgtEl>
                              <p:spTgt spid="2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7" dur="380"/>
                            <p:tgtEl>
                              <p:spTgt spid="2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8" fill="hold">
                      <p:stCondLst>
                        <p:cond delay="748"/>
                      </p:stCondLst>
                      <p:childTnLst>
                        <p:set>
                          <p:cBhvr>
                            <p:cTn id="1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0" dur="380"/>
                            <p:tgtEl>
                              <p:spTgt spid="2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1" dur="380"/>
                            <p:tgtEl>
                              <p:spTgt spid="2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2" fill="hold">
                      <p:stCondLst>
                        <p:cond delay="782"/>
                      </p:stCondLst>
                      <p:childTnLst>
                        <p:set>
                          <p:cBhvr>
                            <p:cTn id="10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4" dur="380"/>
                            <p:tgtEl>
                              <p:spTgt spid="2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5" dur="380"/>
                            <p:tgtEl>
                              <p:spTgt spid="2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6" fill="hold">
                      <p:stCondLst>
                        <p:cond delay="816"/>
                      </p:stCondLst>
                      <p:childTnLst>
                        <p:set>
                          <p:cBhvr>
                            <p:cTn id="10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8" dur="380"/>
                            <p:tgtEl>
                              <p:spTgt spid="2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9" dur="380"/>
                            <p:tgtEl>
                              <p:spTgt spid="2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0" fill="hold">
                      <p:stCondLst>
                        <p:cond delay="850"/>
                      </p:stCondLst>
                      <p:childTnLst>
                        <p:set>
                          <p:cBhvr>
                            <p:cTn id="1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2" dur="380"/>
                            <p:tgtEl>
                              <p:spTgt spid="2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3" dur="380"/>
                            <p:tgtEl>
                              <p:spTgt spid="2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4" fill="hold">
                      <p:stCondLst>
                        <p:cond delay="884"/>
                      </p:stCondLst>
                      <p:childTnLst>
                        <p:set>
                          <p:cBhvr>
                            <p:cTn id="11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6" dur="380"/>
                            <p:tgtEl>
                              <p:spTgt spid="2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7" dur="380"/>
                            <p:tgtEl>
                              <p:spTgt spid="2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8" fill="hold">
                      <p:stCondLst>
                        <p:cond delay="918"/>
                      </p:stCondLst>
                      <p:childTnLst>
                        <p:set>
                          <p:cBhvr>
                            <p:cTn id="11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0" dur="380"/>
                            <p:tgtEl>
                              <p:spTgt spid="2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1" dur="380"/>
                            <p:tgtEl>
                              <p:spTgt spid="2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2" fill="hold">
                      <p:stCondLst>
                        <p:cond delay="952"/>
                      </p:stCondLst>
                      <p:childTnLst>
                        <p:set>
                          <p:cBhvr>
                            <p:cTn id="11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4" dur="380"/>
                            <p:tgtEl>
                              <p:spTgt spid="3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5" dur="380"/>
                            <p:tgtEl>
                              <p:spTgt spid="3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6" fill="hold">
                      <p:stCondLst>
                        <p:cond delay="986"/>
                      </p:stCondLst>
                      <p:childTnLst>
                        <p:set>
                          <p:cBhvr>
                            <p:cTn id="11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8" dur="380"/>
                            <p:tgtEl>
                              <p:spTgt spid="3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9" dur="380"/>
                            <p:tgtEl>
                              <p:spTgt spid="3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0" fill="hold">
                      <p:stCondLst>
                        <p:cond delay="1020"/>
                      </p:stCondLst>
                      <p:childTnLst>
                        <p:set>
                          <p:cBhvr>
                            <p:cTn id="1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2" dur="380"/>
                            <p:tgtEl>
                              <p:spTgt spid="3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3" dur="380"/>
                            <p:tgtEl>
                              <p:spTgt spid="3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4" fill="hold">
                      <p:stCondLst>
                        <p:cond delay="1054"/>
                      </p:stCondLst>
                      <p:childTnLst>
                        <p:set>
                          <p:cBhvr>
                            <p:cTn id="11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6" dur="380"/>
                            <p:tgtEl>
                              <p:spTgt spid="3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7" dur="380"/>
                            <p:tgtEl>
                              <p:spTgt spid="3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8" fill="hold">
                      <p:stCondLst>
                        <p:cond delay="1088"/>
                      </p:stCondLst>
                      <p:childTnLst>
                        <p:set>
                          <p:cBhvr>
                            <p:cTn id="11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0" dur="380"/>
                            <p:tgtEl>
                              <p:spTgt spid="3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1" dur="380"/>
                            <p:tgtEl>
                              <p:spTgt spid="3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2" fill="hold">
                      <p:stCondLst>
                        <p:cond delay="1122"/>
                      </p:stCondLst>
                      <p:childTnLst>
                        <p:set>
                          <p:cBhvr>
                            <p:cTn id="1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4" dur="380"/>
                            <p:tgtEl>
                              <p:spTgt spid="3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5" dur="380"/>
                            <p:tgtEl>
                              <p:spTgt spid="3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6" fill="hold">
                      <p:stCondLst>
                        <p:cond delay="1156"/>
                      </p:stCondLst>
                      <p:childTnLst>
                        <p:set>
                          <p:cBhvr>
                            <p:cTn id="11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8" dur="380"/>
                            <p:tgtEl>
                              <p:spTgt spid="3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9" dur="380"/>
                            <p:tgtEl>
                              <p:spTgt spid="3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0" fill="hold">
                      <p:stCondLst>
                        <p:cond delay="1190"/>
                      </p:stCondLst>
                      <p:childTnLst>
                        <p:set>
                          <p:cBhvr>
                            <p:cTn id="1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2" dur="380"/>
                            <p:tgtEl>
                              <p:spTgt spid="3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3" dur="380"/>
                            <p:tgtEl>
                              <p:spTgt spid="3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4" fill="hold">
                      <p:stCondLst>
                        <p:cond delay="1224"/>
                      </p:stCondLst>
                      <p:childTnLst>
                        <p:set>
                          <p:cBhvr>
                            <p:cTn id="11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6" dur="380"/>
                            <p:tgtEl>
                              <p:spTgt spid="3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7" dur="380"/>
                            <p:tgtEl>
                              <p:spTgt spid="3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8" fill="hold">
                      <p:stCondLst>
                        <p:cond delay="1258"/>
                      </p:stCondLst>
                      <p:childTnLst>
                        <p:set>
                          <p:cBhvr>
                            <p:cTn id="1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0" dur="380"/>
                            <p:tgtEl>
                              <p:spTgt spid="3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1" dur="380"/>
                            <p:tgtEl>
                              <p:spTgt spid="3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2" fill="hold">
                      <p:stCondLst>
                        <p:cond delay="1292"/>
                      </p:stCondLst>
                      <p:childTnLst>
                        <p:set>
                          <p:cBhvr>
                            <p:cTn id="11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4" dur="380"/>
                            <p:tgtEl>
                              <p:spTgt spid="4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5" dur="380"/>
                            <p:tgtEl>
                              <p:spTgt spid="4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6" fill="hold">
                      <p:stCondLst>
                        <p:cond delay="1326"/>
                      </p:stCondLst>
                      <p:childTnLst>
                        <p:set>
                          <p:cBhvr>
                            <p:cTn id="11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8" dur="380"/>
                            <p:tgtEl>
                              <p:spTgt spid="4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9" dur="380"/>
                            <p:tgtEl>
                              <p:spTgt spid="4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0" fill="hold">
                      <p:stCondLst>
                        <p:cond delay="1360"/>
                      </p:stCondLst>
                      <p:childTnLst>
                        <p:set>
                          <p:cBhvr>
                            <p:cTn id="1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2" dur="380"/>
                            <p:tgtEl>
                              <p:spTgt spid="4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3" dur="380"/>
                            <p:tgtEl>
                              <p:spTgt spid="4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4" fill="hold">
                      <p:stCondLst>
                        <p:cond delay="1394"/>
                      </p:stCondLst>
                      <p:childTnLst>
                        <p:set>
                          <p:cBhvr>
                            <p:cTn id="11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6" dur="380"/>
                            <p:tgtEl>
                              <p:spTgt spid="4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7" dur="380"/>
                            <p:tgtEl>
                              <p:spTgt spid="4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8" fill="hold">
                      <p:stCondLst>
                        <p:cond delay="1428"/>
                      </p:stCondLst>
                      <p:childTnLst>
                        <p:set>
                          <p:cBhvr>
                            <p:cTn id="1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0" dur="380"/>
                            <p:tgtEl>
                              <p:spTgt spid="4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1" dur="380"/>
                            <p:tgtEl>
                              <p:spTgt spid="4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72" fill="hold">
                      <p:stCondLst>
                        <p:cond delay="1462"/>
                      </p:stCondLst>
                      <p:childTnLst>
                        <p:set>
                          <p:cBhvr>
                            <p:cTn id="11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4" dur="380"/>
                            <p:tgtEl>
                              <p:spTgt spid="4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5" dur="380"/>
                            <p:tgtEl>
                              <p:spTgt spid="4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Relationships — seeing the structure</a:t>
            </a:r>
            <a:endParaRPr lang="en-US" sz="3000" dirty="0"/>
          </a:p>
        </p:txBody>
      </p:sp>
      <p:pic>
        <p:nvPicPr>
          <p:cNvPr id="3" name="Image 0" descr="logo_botsw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365760"/>
            <a:ext cx="1188720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 of the same data: correlation between measures, and the distribution of unemployment across zones.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pic>
        <p:nvPicPr>
          <p:cNvPr id="6" name="Image 1" descr="img_h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057400"/>
            <a:ext cx="4480560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17920" y="164592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pic>
        <p:nvPicPr>
          <p:cNvPr id="8" name="Image 2" descr="img_k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03120"/>
            <a:ext cx="4297680" cy="3200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10" name="Image 3" descr="logo_botswan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100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200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300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400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50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600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700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800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900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pic>
        <p:nvPicPr>
          <p:cNvPr id="3" name="Image 0" descr="icon_rock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52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81328" y="62179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Turning EDA into Action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08760" y="131673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exploration to decisions and hypotheses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9659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value_counts(normalize=True) checks for imbalance.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443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898648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Cross-tabs.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pd.crosstab() relates two categoricals, or aggregates a value.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877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3831336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pd.cut() percentile bands; extract date &amp; lockdown flags.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09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4764024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Hypotheses.  </a:t>
            </a:r>
            <a:pPr algn="l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groups to frame concrete, testable questions.</a:t>
            </a:r>
            <a:endParaRPr lang="en-US" sz="1250" dirty="0"/>
          </a:p>
        </p:txBody>
      </p:sp>
      <p:pic>
        <p:nvPicPr>
          <p:cNvPr id="19" name="Image 1" descr="img_k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5120640" cy="32918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21" name="Image 2" descr="logo_botswan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71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142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213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284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355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426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497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568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639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71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781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852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923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994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1065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1136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1207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1278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1349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142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pic>
        <p:nvPicPr>
          <p:cNvPr id="3" name="Image 0" descr="icon_rock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852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81328" y="621792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Turning EDA into Action — implementation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08760" y="1316736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techniques, with code   ·   rate = Unemployment_Rate for brevity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" y="1856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4708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Check class imbalance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" y="2221992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2585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df["Region"].value_counts(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normalize=True)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64224" y="1856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364224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48272" y="184708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Cross-tabulation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64224" y="2221992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18" name="Text 15"/>
          <p:cNvSpPr/>
          <p:nvPr/>
        </p:nvSpPr>
        <p:spPr>
          <a:xfrm>
            <a:off x="6510528" y="22585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pd.crosstab(df["Zone"],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df["rate_band"])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319272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" y="34381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3429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Percentile bands with cut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3504" y="3803904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df["band"] = pd.cut(df["rate"],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bins=[0,5,10,20,100],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labels=["Low","Mod","High","VHigh"])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17920" y="3319272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64224" y="34381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636422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48272" y="34290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 Generate new features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64224" y="3803904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30" name="Text 27"/>
          <p:cNvSpPr/>
          <p:nvPr/>
        </p:nvSpPr>
        <p:spPr>
          <a:xfrm>
            <a:off x="6510528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df["lockdown"] = df["month"] \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.isin([4,5]).astype(int)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490118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" y="50200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/>
        </p:spPr>
      </p:sp>
      <p:sp>
        <p:nvSpPr>
          <p:cNvPr id="33" name="Text 30"/>
          <p:cNvSpPr/>
          <p:nvPr/>
        </p:nvSpPr>
        <p:spPr>
          <a:xfrm>
            <a:off x="603504" y="5020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87552" y="50109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5. Extract features for corr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03504" y="5385816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36" name="Text 33"/>
          <p:cNvSpPr/>
          <p:nvPr/>
        </p:nvSpPr>
        <p:spPr>
          <a:xfrm>
            <a:off x="749808" y="54223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df[["rate","lockdown","month"]] \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.corr()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17920" y="4901184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64224" y="50200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/>
        </p:spPr>
      </p:sp>
      <p:sp>
        <p:nvSpPr>
          <p:cNvPr id="39" name="Text 36"/>
          <p:cNvSpPr/>
          <p:nvPr/>
        </p:nvSpPr>
        <p:spPr>
          <a:xfrm>
            <a:off x="6364224" y="5020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748272" y="50109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 Compare groups → hypothesis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364224" y="5385816"/>
            <a:ext cx="5193792" cy="795528"/>
          </a:xfrm>
          <a:prstGeom prst="roundRect">
            <a:avLst>
              <a:gd name="adj" fmla="val 5747"/>
            </a:avLst>
          </a:prstGeom>
          <a:solidFill>
            <a:srgbClr val="141B34"/>
          </a:solidFill>
          <a:ln/>
        </p:spPr>
      </p:sp>
      <p:sp>
        <p:nvSpPr>
          <p:cNvPr id="42" name="Text 39"/>
          <p:cNvSpPr/>
          <p:nvPr/>
        </p:nvSpPr>
        <p:spPr>
          <a:xfrm>
            <a:off x="6510528" y="54223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df.groupby("lockdown")["rate"] \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.agg(["mean","median"])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44" name="Image 1" descr="logo_botswa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34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68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102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136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17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204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238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272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306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34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374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408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442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476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510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544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578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612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646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68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4" fill="hold">
                      <p:stCondLst>
                        <p:cond delay="714"/>
                      </p:stCondLst>
                      <p:childTnLst>
                        <p:set>
                          <p:cBhvr>
                            <p:cTn id="1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6" dur="380"/>
                            <p:tgtEl>
                              <p:spTgt spid="2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7" dur="380"/>
                            <p:tgtEl>
                              <p:spTgt spid="2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8" fill="hold">
                      <p:stCondLst>
                        <p:cond delay="748"/>
                      </p:stCondLst>
                      <p:childTnLst>
                        <p:set>
                          <p:cBhvr>
                            <p:cTn id="1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0" dur="380"/>
                            <p:tgtEl>
                              <p:spTgt spid="2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1" dur="380"/>
                            <p:tgtEl>
                              <p:spTgt spid="2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2" fill="hold">
                      <p:stCondLst>
                        <p:cond delay="782"/>
                      </p:stCondLst>
                      <p:childTnLst>
                        <p:set>
                          <p:cBhvr>
                            <p:cTn id="10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4" dur="380"/>
                            <p:tgtEl>
                              <p:spTgt spid="2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5" dur="380"/>
                            <p:tgtEl>
                              <p:spTgt spid="2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6" fill="hold">
                      <p:stCondLst>
                        <p:cond delay="816"/>
                      </p:stCondLst>
                      <p:childTnLst>
                        <p:set>
                          <p:cBhvr>
                            <p:cTn id="10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8" dur="380"/>
                            <p:tgtEl>
                              <p:spTgt spid="2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9" dur="380"/>
                            <p:tgtEl>
                              <p:spTgt spid="2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0" fill="hold">
                      <p:stCondLst>
                        <p:cond delay="850"/>
                      </p:stCondLst>
                      <p:childTnLst>
                        <p:set>
                          <p:cBhvr>
                            <p:cTn id="1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2" dur="380"/>
                            <p:tgtEl>
                              <p:spTgt spid="2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3" dur="380"/>
                            <p:tgtEl>
                              <p:spTgt spid="2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4" fill="hold">
                      <p:stCondLst>
                        <p:cond delay="884"/>
                      </p:stCondLst>
                      <p:childTnLst>
                        <p:set>
                          <p:cBhvr>
                            <p:cTn id="11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6" dur="380"/>
                            <p:tgtEl>
                              <p:spTgt spid="2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07" dur="380"/>
                            <p:tgtEl>
                              <p:spTgt spid="2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08" fill="hold">
                      <p:stCondLst>
                        <p:cond delay="918"/>
                      </p:stCondLst>
                      <p:childTnLst>
                        <p:set>
                          <p:cBhvr>
                            <p:cTn id="11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0" dur="380"/>
                            <p:tgtEl>
                              <p:spTgt spid="2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1" dur="380"/>
                            <p:tgtEl>
                              <p:spTgt spid="2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2" fill="hold">
                      <p:stCondLst>
                        <p:cond delay="952"/>
                      </p:stCondLst>
                      <p:childTnLst>
                        <p:set>
                          <p:cBhvr>
                            <p:cTn id="11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4" dur="380"/>
                            <p:tgtEl>
                              <p:spTgt spid="3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5" dur="380"/>
                            <p:tgtEl>
                              <p:spTgt spid="3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16" fill="hold">
                      <p:stCondLst>
                        <p:cond delay="986"/>
                      </p:stCondLst>
                      <p:childTnLst>
                        <p:set>
                          <p:cBhvr>
                            <p:cTn id="11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18" dur="380"/>
                            <p:tgtEl>
                              <p:spTgt spid="3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19" dur="380"/>
                            <p:tgtEl>
                              <p:spTgt spid="3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0" fill="hold">
                      <p:stCondLst>
                        <p:cond delay="1020"/>
                      </p:stCondLst>
                      <p:childTnLst>
                        <p:set>
                          <p:cBhvr>
                            <p:cTn id="1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2" dur="380"/>
                            <p:tgtEl>
                              <p:spTgt spid="3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3" dur="380"/>
                            <p:tgtEl>
                              <p:spTgt spid="3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4" fill="hold">
                      <p:stCondLst>
                        <p:cond delay="1054"/>
                      </p:stCondLst>
                      <p:childTnLst>
                        <p:set>
                          <p:cBhvr>
                            <p:cTn id="11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6" dur="380"/>
                            <p:tgtEl>
                              <p:spTgt spid="3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27" dur="380"/>
                            <p:tgtEl>
                              <p:spTgt spid="3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28" fill="hold">
                      <p:stCondLst>
                        <p:cond delay="1088"/>
                      </p:stCondLst>
                      <p:childTnLst>
                        <p:set>
                          <p:cBhvr>
                            <p:cTn id="11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0" dur="380"/>
                            <p:tgtEl>
                              <p:spTgt spid="3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1" dur="380"/>
                            <p:tgtEl>
                              <p:spTgt spid="3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2" fill="hold">
                      <p:stCondLst>
                        <p:cond delay="1122"/>
                      </p:stCondLst>
                      <p:childTnLst>
                        <p:set>
                          <p:cBhvr>
                            <p:cTn id="1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4" dur="380"/>
                            <p:tgtEl>
                              <p:spTgt spid="3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5" dur="380"/>
                            <p:tgtEl>
                              <p:spTgt spid="3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36" fill="hold">
                      <p:stCondLst>
                        <p:cond delay="1156"/>
                      </p:stCondLst>
                      <p:childTnLst>
                        <p:set>
                          <p:cBhvr>
                            <p:cTn id="11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8" dur="380"/>
                            <p:tgtEl>
                              <p:spTgt spid="3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39" dur="380"/>
                            <p:tgtEl>
                              <p:spTgt spid="3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0" fill="hold">
                      <p:stCondLst>
                        <p:cond delay="1190"/>
                      </p:stCondLst>
                      <p:childTnLst>
                        <p:set>
                          <p:cBhvr>
                            <p:cTn id="1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2" dur="380"/>
                            <p:tgtEl>
                              <p:spTgt spid="3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3" dur="380"/>
                            <p:tgtEl>
                              <p:spTgt spid="3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4" fill="hold">
                      <p:stCondLst>
                        <p:cond delay="1224"/>
                      </p:stCondLst>
                      <p:childTnLst>
                        <p:set>
                          <p:cBhvr>
                            <p:cTn id="11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6" dur="380"/>
                            <p:tgtEl>
                              <p:spTgt spid="3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47" dur="380"/>
                            <p:tgtEl>
                              <p:spTgt spid="3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48" fill="hold">
                      <p:stCondLst>
                        <p:cond delay="1258"/>
                      </p:stCondLst>
                      <p:childTnLst>
                        <p:set>
                          <p:cBhvr>
                            <p:cTn id="1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0" dur="380"/>
                            <p:tgtEl>
                              <p:spTgt spid="3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1" dur="380"/>
                            <p:tgtEl>
                              <p:spTgt spid="3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2" fill="hold">
                      <p:stCondLst>
                        <p:cond delay="1292"/>
                      </p:stCondLst>
                      <p:childTnLst>
                        <p:set>
                          <p:cBhvr>
                            <p:cTn id="11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4" dur="380"/>
                            <p:tgtEl>
                              <p:spTgt spid="4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5" dur="380"/>
                            <p:tgtEl>
                              <p:spTgt spid="4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56" fill="hold">
                      <p:stCondLst>
                        <p:cond delay="1326"/>
                      </p:stCondLst>
                      <p:childTnLst>
                        <p:set>
                          <p:cBhvr>
                            <p:cTn id="11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8" dur="380"/>
                            <p:tgtEl>
                              <p:spTgt spid="4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59" dur="380"/>
                            <p:tgtEl>
                              <p:spTgt spid="4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0" fill="hold">
                      <p:stCondLst>
                        <p:cond delay="1360"/>
                      </p:stCondLst>
                      <p:childTnLst>
                        <p:set>
                          <p:cBhvr>
                            <p:cTn id="1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2" dur="380"/>
                            <p:tgtEl>
                              <p:spTgt spid="4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3" dur="380"/>
                            <p:tgtEl>
                              <p:spTgt spid="4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4" fill="hold">
                      <p:stCondLst>
                        <p:cond delay="1394"/>
                      </p:stCondLst>
                      <p:childTnLst>
                        <p:set>
                          <p:cBhvr>
                            <p:cTn id="11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6" dur="380"/>
                            <p:tgtEl>
                              <p:spTgt spid="4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67" dur="380"/>
                            <p:tgtEl>
                              <p:spTgt spid="4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68" fill="hold">
                      <p:stCondLst>
                        <p:cond delay="1428"/>
                      </p:stCondLst>
                      <p:childTnLst>
                        <p:set>
                          <p:cBhvr>
                            <p:cTn id="1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0" dur="380"/>
                            <p:tgtEl>
                              <p:spTgt spid="4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1" dur="380"/>
                            <p:tgtEl>
                              <p:spTgt spid="4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172" fill="hold">
                      <p:stCondLst>
                        <p:cond delay="1462"/>
                      </p:stCondLst>
                      <p:childTnLst>
                        <p:set>
                          <p:cBhvr>
                            <p:cTn id="11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4" dur="380"/>
                            <p:tgtEl>
                              <p:spTgt spid="4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175" dur="380"/>
                            <p:tgtEl>
                              <p:spTgt spid="4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9A03F"/>
          </a:solidFill>
          <a:ln/>
        </p:spPr>
      </p:sp>
      <p:pic>
        <p:nvPicPr>
          <p:cNvPr id="3" name="Image 0" descr="icon_lightbulb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exploration leads: testable hypotheses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10195560" y="457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6" name="Image 1" descr="logo_botswa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566928"/>
            <a:ext cx="1280160" cy="6126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A3470"/>
          </a:solidFill>
          <a:ln/>
        </p:spPr>
      </p:sp>
      <p:sp>
        <p:nvSpPr>
          <p:cNvPr id="8" name="Shape 4"/>
          <p:cNvSpPr/>
          <p:nvPr/>
        </p:nvSpPr>
        <p:spPr>
          <a:xfrm>
            <a:off x="822960" y="194767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19476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783080" y="1874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Lockdown effect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783080" y="22860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in Apr–May 2020 is significantly higher than in other months.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1089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A3470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336499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9A03F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33649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783080" y="32918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Regional gap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37033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Northern-zone unemployment is systematically higher than Western-zone.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A3470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4782312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47823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1783080" y="470916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Participation trade-off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783080" y="51206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labour participation is associated with lower measured unemployment.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not the end — it is the foundation for the questions worth answering next.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71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142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213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284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355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426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497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568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639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71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781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852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923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994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1065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1136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1207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1278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1349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142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EDA toolkit at a glance</a:t>
            </a:r>
            <a:endParaRPr lang="en-US" sz="3200" dirty="0"/>
          </a:p>
        </p:txBody>
      </p:sp>
      <p:pic>
        <p:nvPicPr>
          <p:cNvPr id="3" name="Image 0" descr="logo_botsw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365760"/>
            <a:ext cx="1188720" cy="5760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8016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5087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pic>
        <p:nvPicPr>
          <p:cNvPr id="6" name="Image 1" descr="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6420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38988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Explore &amp; validate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663440" y="138988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.head() .info() .describe()  ·  .value_counts() .nunique()  ·  .isin()  ·  groupby().agg()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2578608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2807208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96167"/>
          </a:solidFill>
          <a:ln/>
        </p:spPr>
      </p:sp>
      <p:pic>
        <p:nvPicPr>
          <p:cNvPr id="11" name="Image 2" descr="icon_broom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6265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688336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 &amp; transform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663440" y="2688336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.isna().sum()  ·  .fillna() / sub-group impute  ·  .str.contains() np.select  ·  .transform()  ·  IQR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57200" y="3877056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5" name="Shape 10"/>
          <p:cNvSpPr/>
          <p:nvPr/>
        </p:nvSpPr>
        <p:spPr>
          <a:xfrm>
            <a:off x="685800" y="4105656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9A03F"/>
          </a:solidFill>
          <a:ln/>
        </p:spPr>
      </p:sp>
      <p:pic>
        <p:nvPicPr>
          <p:cNvPr id="16" name="Image 3" descr="icon_chartLi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261104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986784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Relate &amp; visualize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4663440" y="3986784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pd.to_datetime() .dt  ·  lineplot  ·  .corr() heatmap  ·  scatterplot pairplot  ·  kdeplot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57200" y="5175504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/>
        </p:spPr>
      </p:sp>
      <p:sp>
        <p:nvSpPr>
          <p:cNvPr id="20" name="Shape 14"/>
          <p:cNvSpPr/>
          <p:nvPr/>
        </p:nvSpPr>
        <p:spPr>
          <a:xfrm>
            <a:off x="685800" y="5404104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pic>
        <p:nvPicPr>
          <p:cNvPr id="21" name="Image 4" descr="icon_rock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55955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528523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4663440" y="5285232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value_counts(normalize)  ·  pd.crosstab()  ·  pd.cut()  ·  feature engineering  ·  hypotheses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Python  ·  IndabaX Botswana 2026</a:t>
            </a:r>
            <a:endParaRPr lang="en-US" sz="900" dirty="0"/>
          </a:p>
        </p:txBody>
      </p:sp>
      <p:pic>
        <p:nvPicPr>
          <p:cNvPr id="25" name="Image 5" descr="logo_botswan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6400800"/>
            <a:ext cx="749808" cy="35661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658600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60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120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180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240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30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360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420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480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6" fill="hold">
                      <p:stCondLst>
                        <p:cond delay="540"/>
                      </p:stCondLst>
                      <p:childTnLst>
                        <p:set>
                          <p:cBhvr>
                            <p:cTn id="1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8" dur="380"/>
                            <p:tgtEl>
                              <p:spTgt spid="1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9" dur="380"/>
                            <p:tgtEl>
                              <p:spTgt spid="1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0" fill="hold">
                      <p:stCondLst>
                        <p:cond delay="600"/>
                      </p:stCondLst>
                      <p:childTnLst>
                        <p:set>
                          <p:cBhvr>
                            <p:cTn id="10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2" dur="380"/>
                            <p:tgtEl>
                              <p:spTgt spid="1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3" dur="380"/>
                            <p:tgtEl>
                              <p:spTgt spid="1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4" fill="hold">
                      <p:stCondLst>
                        <p:cond delay="660"/>
                      </p:stCondLst>
                      <p:childTnLst>
                        <p:set>
                          <p:cBhvr>
                            <p:cTn id="10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6" dur="380"/>
                            <p:tgtEl>
                              <p:spTgt spid="1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47" dur="380"/>
                            <p:tgtEl>
                              <p:spTgt spid="1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48" fill="hold">
                      <p:stCondLst>
                        <p:cond delay="720"/>
                      </p:stCondLst>
                      <p:childTnLst>
                        <p:set>
                          <p:cBhvr>
                            <p:cTn id="1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0" dur="380"/>
                            <p:tgtEl>
                              <p:spTgt spid="1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1" dur="380"/>
                            <p:tgtEl>
                              <p:spTgt spid="1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2" fill="hold">
                      <p:stCondLst>
                        <p:cond delay="780"/>
                      </p:stCondLst>
                      <p:childTnLst>
                        <p:set>
                          <p:cBhvr>
                            <p:cTn id="10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4" dur="380"/>
                            <p:tgtEl>
                              <p:spTgt spid="1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5" dur="380"/>
                            <p:tgtEl>
                              <p:spTgt spid="1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56" fill="hold">
                      <p:stCondLst>
                        <p:cond delay="840"/>
                      </p:stCondLst>
                      <p:childTnLst>
                        <p:set>
                          <p:cBhvr>
                            <p:cTn id="1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8" dur="380"/>
                            <p:tgtEl>
                              <p:spTgt spid="1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59" dur="380"/>
                            <p:tgtEl>
                              <p:spTgt spid="1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0" fill="hold">
                      <p:stCondLst>
                        <p:cond delay="900"/>
                      </p:stCondLst>
                      <p:childTnLst>
                        <p:set>
                          <p:cBhvr>
                            <p:cTn id="10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2" dur="380"/>
                            <p:tgtEl>
                              <p:spTgt spid="1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3" dur="380"/>
                            <p:tgtEl>
                              <p:spTgt spid="1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4" fill="hold">
                      <p:stCondLst>
                        <p:cond delay="960"/>
                      </p:stCondLst>
                      <p:childTnLst>
                        <p:set>
                          <p:cBhvr>
                            <p:cTn id="1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380"/>
                            <p:tgtEl>
                              <p:spTgt spid="1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67" dur="380"/>
                            <p:tgtEl>
                              <p:spTgt spid="1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68" fill="hold">
                      <p:stCondLst>
                        <p:cond delay="1020"/>
                      </p:stCondLst>
                      <p:childTnLst>
                        <p:set>
                          <p:cBhvr>
                            <p:cTn id="1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0" dur="380"/>
                            <p:tgtEl>
                              <p:spTgt spid="1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1" dur="380"/>
                            <p:tgtEl>
                              <p:spTgt spid="1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2" fill="hold">
                      <p:stCondLst>
                        <p:cond delay="1080"/>
                      </p:stCondLst>
                      <p:childTnLst>
                        <p:set>
                          <p:cBhvr>
                            <p:cTn id="10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4" dur="380"/>
                            <p:tgtEl>
                              <p:spTgt spid="2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5" dur="380"/>
                            <p:tgtEl>
                              <p:spTgt spid="2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76" fill="hold">
                      <p:stCondLst>
                        <p:cond delay="1140"/>
                      </p:stCondLst>
                      <p:childTnLst>
                        <p:set>
                          <p:cBhvr>
                            <p:cTn id="1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380"/>
                            <p:tgtEl>
                              <p:spTgt spid="21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79" dur="380"/>
                            <p:tgtEl>
                              <p:spTgt spid="2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0" fill="hold">
                      <p:stCondLst>
                        <p:cond delay="1200"/>
                      </p:stCondLst>
                      <p:childTnLst>
                        <p:set>
                          <p:cBhvr>
                            <p:cTn id="10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2" dur="380"/>
                            <p:tgtEl>
                              <p:spTgt spid="2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3" dur="380"/>
                            <p:tgtEl>
                              <p:spTgt spid="2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4" fill="hold">
                      <p:stCondLst>
                        <p:cond delay="1260"/>
                      </p:stCondLst>
                      <p:childTnLst>
                        <p:set>
                          <p:cBhvr>
                            <p:cTn id="1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6" dur="380"/>
                            <p:tgtEl>
                              <p:spTgt spid="2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87" dur="380"/>
                            <p:tgtEl>
                              <p:spTgt spid="2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88" fill="hold">
                      <p:stCondLst>
                        <p:cond delay="1320"/>
                      </p:stCondLst>
                      <p:childTnLst>
                        <p:set>
                          <p:cBhvr>
                            <p:cTn id="1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0" dur="380"/>
                            <p:tgtEl>
                              <p:spTgt spid="2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1" dur="380"/>
                            <p:tgtEl>
                              <p:spTgt spid="2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2" fill="hold">
                      <p:stCondLst>
                        <p:cond delay="1380"/>
                      </p:stCondLst>
                      <p:childTnLst>
                        <p:set>
                          <p:cBhvr>
                            <p:cTn id="10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4" dur="380"/>
                            <p:tgtEl>
                              <p:spTgt spid="2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5" dur="380"/>
                            <p:tgtEl>
                              <p:spTgt spid="2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96" fill="hold">
                      <p:stCondLst>
                        <p:cond delay="1440"/>
                      </p:stCondLst>
                      <p:childTnLst>
                        <p:set>
                          <p:cBhvr>
                            <p:cTn id="10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8" dur="380"/>
                            <p:tgtEl>
                              <p:spTgt spid="2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99" dur="380"/>
                            <p:tgtEl>
                              <p:spTgt spid="2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lag_trans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4206240" cy="2139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 a leboga!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40080" y="2514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AF1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 — from raw data to real questions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645920" y="324612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chapters. One workflow. A companion Jupyter notebook runs every technique end-to-end on this dataset.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46120" y="411480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pic>
        <p:nvPicPr>
          <p:cNvPr id="7" name="Image 1" descr="logo_botswa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315968"/>
            <a:ext cx="1783080" cy="859536"/>
          </a:xfrm>
          <a:prstGeom prst="rect">
            <a:avLst/>
          </a:prstGeom>
        </p:spPr>
      </p:pic>
      <p:pic>
        <p:nvPicPr>
          <p:cNvPr id="8" name="Image 2" descr="logo_z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370832"/>
            <a:ext cx="1508760" cy="813816"/>
          </a:xfrm>
          <a:prstGeom prst="rect">
            <a:avLst/>
          </a:prstGeom>
        </p:spPr>
      </p:pic>
      <p:pic>
        <p:nvPicPr>
          <p:cNvPr id="9" name="Image 3" descr="logo_dsz_tra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4160520"/>
            <a:ext cx="1600200" cy="11612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IndabaX Botswana  ·  IndabaX Zimbabwe  ·  Data Science Zimbabwe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par>
              <p:cTn id="900" fill="hold">
                <p:stCondLst>
                  <p:cond delay="0"/>
                </p:stCondLst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set>
                          <p:cBhvr>
                            <p:cTn id="10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2" dur="380"/>
                            <p:tgtEl>
                              <p:spTgt spid="2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3" dur="380"/>
                            <p:tgtEl>
                              <p:spTgt spid="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4" fill="hold">
                      <p:stCondLst>
                        <p:cond delay="100"/>
                      </p:stCondLst>
                      <p:childTnLst>
                        <p:set>
                          <p:cBhvr>
                            <p:cTn id="1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380"/>
                            <p:tgtEl>
                              <p:spTgt spid="3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07" dur="380"/>
                            <p:tgtEl>
                              <p:spTgt spid="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08" fill="hold">
                      <p:stCondLst>
                        <p:cond delay="200"/>
                      </p:stCondLst>
                      <p:childTnLst>
                        <p:set>
                          <p:cBhvr>
                            <p:cTn id="1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0" dur="380"/>
                            <p:tgtEl>
                              <p:spTgt spid="4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1" dur="380"/>
                            <p:tgtEl>
                              <p:spTgt spid="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2" fill="hold">
                      <p:stCondLst>
                        <p:cond delay="300"/>
                      </p:stCondLst>
                      <p:childTnLst>
                        <p:set>
                          <p:cBhvr>
                            <p:cTn id="10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4" dur="380"/>
                            <p:tgtEl>
                              <p:spTgt spid="5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5" dur="380"/>
                            <p:tgtEl>
                              <p:spTgt spid="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16" fill="hold">
                      <p:stCondLst>
                        <p:cond delay="400"/>
                      </p:stCondLst>
                      <p:childTnLst>
                        <p:set>
                          <p:cBhvr>
                            <p:cTn id="1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8" dur="380"/>
                            <p:tgtEl>
                              <p:spTgt spid="6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19" dur="380"/>
                            <p:tgtEl>
                              <p:spTgt spid="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0" fill="hold">
                      <p:stCondLst>
                        <p:cond delay="500"/>
                      </p:stCondLst>
                      <p:childTnLst>
                        <p:set>
                          <p:cBhvr>
                            <p:cTn id="10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2" dur="380"/>
                            <p:tgtEl>
                              <p:spTgt spid="7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3" dur="380"/>
                            <p:tgtEl>
                              <p:spTgt spid="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4" fill="hold">
                      <p:stCondLst>
                        <p:cond delay="600"/>
                      </p:stCondLst>
                      <p:childTnLst>
                        <p:set>
                          <p:cBhvr>
                            <p:cTn id="10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6" dur="380"/>
                            <p:tgtEl>
                              <p:spTgt spid="8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27" dur="380"/>
                            <p:tgtEl>
                              <p:spTgt spid="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28" fill="hold">
                      <p:stCondLst>
                        <p:cond delay="700"/>
                      </p:stCondLst>
                      <p:childTnLst>
                        <p:set>
                          <p:cBhvr>
                            <p:cTn id="10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0" dur="380"/>
                            <p:tgtEl>
                              <p:spTgt spid="9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1" dur="380"/>
                            <p:tgtEl>
                              <p:spTgt spid="9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1032" fill="hold">
                      <p:stCondLst>
                        <p:cond delay="800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4" dur="380"/>
                            <p:tgtEl>
                              <p:spTgt spid="10"/>
                            </p:tgtEl>
                          </p:cBhvr>
                        </p:animEffect>
                        <p:animMotion origin="layout" path="M 0 0.035 L 0 0" pathEditMode="relative" ptsTypes="AA">
                          <p:cBhvr additive="base">
                            <p:cTn id="1035" dur="380"/>
                            <p:tgtEl>
                              <p:spTgt spid="1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2026-07-27T23:35:10Z</dcterms:created>
  <dcterms:modified xsi:type="dcterms:W3CDTF">2026-07-27T23:35:10Z</dcterms:modified>
</cp:coreProperties>
</file>